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4251960"/>
            <a:ext cx="256032" cy="1188720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55480" y="3611880"/>
            <a:ext cx="256032" cy="1828800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0" y="2971800"/>
            <a:ext cx="256032" cy="2468880"/>
          </a:xfrm>
          <a:prstGeom prst="roundRect">
            <a:avLst/>
          </a:prstGeom>
          <a:solidFill>
            <a:srgbClr val="60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61320" y="1965960"/>
            <a:ext cx="256032" cy="3474720"/>
          </a:xfrm>
          <a:prstGeom prst="roundRect">
            <a:avLst/>
          </a:prstGeom>
          <a:solidFill>
            <a:srgbClr val="FFB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064240" y="1143000"/>
            <a:ext cx="256032" cy="4297680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749808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BEB4"/>
                </a:solidFill>
                <a:latin typeface="Aptos"/>
              </a:defRPr>
            </a:pPr>
            <a:r>
              <a:t>DATA ANALYTICS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758952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8FAFD"/>
                </a:solidFill>
                <a:latin typeface="Aptos"/>
              </a:defRPr>
            </a:pPr>
            <a:r>
              <a:t>CUSTOMER</a:t>
            </a:r>
          </a:p>
          <a:p>
            <a:pPr>
              <a:spcAft>
                <a:spcPts val="700"/>
              </a:spcAft>
              <a:defRPr sz="3400" b="1">
                <a:solidFill>
                  <a:srgbClr val="F8FAFD"/>
                </a:solidFill>
                <a:latin typeface="Aptos"/>
              </a:defRPr>
            </a:pPr>
            <a:r>
              <a:t>SHOPPING</a:t>
            </a:r>
          </a:p>
          <a:p>
            <a:pPr>
              <a:spcAft>
                <a:spcPts val="700"/>
              </a:spcAft>
              <a:defRPr sz="3400" b="1">
                <a:solidFill>
                  <a:srgbClr val="F8FAFD"/>
                </a:solidFill>
                <a:latin typeface="Aptos"/>
              </a:defRPr>
            </a:pPr>
            <a:r>
              <a:t>BEHAVIOUR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58768"/>
            <a:ext cx="5303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5ED3E6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709160"/>
            <a:ext cx="6766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6EFF8"/>
                </a:solidFill>
                <a:latin typeface="Aptos"/>
              </a:defRPr>
            </a:pPr>
            <a:r>
              <a:t>Python (Pandas)  •  PostgreSQL  • 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742432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2C0D5"/>
                </a:solidFill>
                <a:latin typeface="Aptos"/>
              </a:defRPr>
            </a:pPr>
            <a:r>
              <a:t>Prepared by: Sujal Patil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144768"/>
            <a:ext cx="7132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3,900 records  |  $233,081 recorded purchase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01 • PROJECT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2C0D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BEB4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9377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8FAFD"/>
                </a:solidFill>
                <a:latin typeface="Aptos"/>
              </a:defRPr>
            </a:pPr>
            <a:r>
              <a:t>Turn customer purchase records into clear, useful business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18103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17520"/>
            <a:ext cx="537667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6EFF8"/>
                </a:solidFill>
                <a:latin typeface="Aptos"/>
              </a:defRPr>
            </a:pPr>
            <a:r>
              <a:t>Prepare and explore the dataset with Python and Pandas.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529584"/>
            <a:ext cx="537667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6EFF8"/>
                </a:solidFill>
                <a:latin typeface="Aptos"/>
              </a:defRPr>
            </a:pPr>
            <a:r>
              <a:t>Use PostgreSQL to answer business questions with grouping, filtering and ranking.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42232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41648"/>
            <a:ext cx="537667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6EFF8"/>
                </a:solidFill>
                <a:latin typeface="Aptos"/>
              </a:defRPr>
            </a:pPr>
            <a:r>
              <a:t>Communicate patterns in an interactive Power BI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691640"/>
            <a:ext cx="2057400" cy="137160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691640"/>
            <a:ext cx="64008" cy="13716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2007" y="1847088"/>
            <a:ext cx="1737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3,900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2404872"/>
            <a:ext cx="17373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Customer purchase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91640"/>
            <a:ext cx="2331720" cy="137160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691640"/>
            <a:ext cx="64008" cy="1371600"/>
          </a:xfrm>
          <a:prstGeom prst="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847088"/>
            <a:ext cx="20116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$233,081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404872"/>
            <a:ext cx="20116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Total recorded purchase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337560"/>
            <a:ext cx="2057400" cy="137160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3337560"/>
            <a:ext cx="64008" cy="1371600"/>
          </a:xfrm>
          <a:prstGeom prst="rect">
            <a:avLst/>
          </a:prstGeom>
          <a:solidFill>
            <a:srgbClr val="FFB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2007" y="3493008"/>
            <a:ext cx="1737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$59.76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7" y="4050791"/>
            <a:ext cx="17373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Average purchase amount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337560"/>
            <a:ext cx="2331720" cy="137160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3337560"/>
            <a:ext cx="64008" cy="1371600"/>
          </a:xfrm>
          <a:prstGeom prst="rect">
            <a:avLst/>
          </a:prstGeom>
          <a:solidFill>
            <a:srgbClr val="60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3493008"/>
            <a:ext cx="20116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3.75 /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4050791"/>
            <a:ext cx="20116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Average review rating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572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Note: purchase value is the sum of recorded Purchase Amount (USD), not audited revenue or profit.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55664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B2C0D5"/>
                </a:solidFill>
                <a:latin typeface="Aptos"/>
              </a:defRPr>
            </a:pPr>
            <a:r>
              <a:t>CUSTOMER SHOPPING BEHAVIOUR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02 •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Dataset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2C0D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377440" cy="132588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132588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2057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3,900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20574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377440" cy="132588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645920"/>
            <a:ext cx="64008" cy="1325880"/>
          </a:xfrm>
          <a:prstGeom prst="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801368"/>
            <a:ext cx="2057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18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359152"/>
            <a:ext cx="20574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Original fields + derived age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45920"/>
            <a:ext cx="2377440" cy="132588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645920"/>
            <a:ext cx="64008" cy="1325880"/>
          </a:xfrm>
          <a:prstGeom prst="rect">
            <a:avLst/>
          </a:prstGeom>
          <a:solidFill>
            <a:srgbClr val="FFB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801368"/>
            <a:ext cx="2057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2359152"/>
            <a:ext cx="20574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Missing review ratings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645920"/>
            <a:ext cx="2651760" cy="132588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1645920"/>
            <a:ext cx="64008" cy="1325880"/>
          </a:xfrm>
          <a:prstGeom prst="rect">
            <a:avLst/>
          </a:prstGeom>
          <a:solidFill>
            <a:srgbClr val="60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1801368"/>
            <a:ext cx="2331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359152"/>
            <a:ext cx="233172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Core workflow stages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290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BEB4"/>
                </a:solidFill>
                <a:latin typeface="Aptos"/>
              </a:defRPr>
            </a:pPr>
            <a:r>
              <a:t>Key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941064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3840480"/>
            <a:ext cx="519379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E6EFF8"/>
                </a:solidFill>
                <a:latin typeface="Aptos"/>
              </a:defRPr>
            </a:pPr>
            <a:r>
              <a:t>Customer profile: age, gender and location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53128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352544"/>
            <a:ext cx="519379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E6EFF8"/>
                </a:solidFill>
                <a:latin typeface="Aptos"/>
              </a:defRPr>
            </a:pPr>
            <a:r>
              <a:t>Shopping: item, category, purchase amount and review rating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965192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864608"/>
            <a:ext cx="519379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E6EFF8"/>
                </a:solidFill>
                <a:latin typeface="Aptos"/>
              </a:defRPr>
            </a:pPr>
            <a:r>
              <a:t>Behaviour: subscription, discounts, shipping, payment and purchase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2900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BEB4"/>
                </a:solidFill>
                <a:latin typeface="Aptos"/>
              </a:defRPr>
            </a:pPr>
            <a:r>
              <a:t>Tools and 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941064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8" y="3840480"/>
            <a:ext cx="482803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E6EFF8"/>
                </a:solidFill>
                <a:latin typeface="Aptos"/>
              </a:defRPr>
            </a:pPr>
            <a:r>
              <a:t>Python + Pandas — inspect, clean and transform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4453128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9128" y="4352544"/>
            <a:ext cx="482803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E6EFF8"/>
                </a:solidFill>
                <a:latin typeface="Aptos"/>
              </a:defRPr>
            </a:pPr>
            <a:r>
              <a:t>PostgreSQL + pgAdmin — query and aggregate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4965192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39128" y="4864608"/>
            <a:ext cx="482803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E6EFF8"/>
                </a:solidFill>
                <a:latin typeface="Aptos"/>
              </a:defRPr>
            </a:pPr>
            <a:r>
              <a:t>Power BI — KPIs, comparisons and slicers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455664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B2C0D5"/>
                </a:solidFill>
                <a:latin typeface="Aptos"/>
              </a:defRPr>
            </a:pPr>
            <a:r>
              <a:t>CUSTOMER SHOPPING BEHAVIOUR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End-to-End Analytics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2C0D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1993392" cy="242316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12848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9748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246120"/>
            <a:ext cx="16459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Review rows, schema, data types and distributions.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2907792"/>
            <a:ext cx="2926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5ED3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2011680"/>
            <a:ext cx="1993392" cy="242316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212848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9748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46120"/>
            <a:ext cx="16459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Handle 37 missing ratings; standardise column names.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907792"/>
            <a:ext cx="2926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5ED3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376" y="2011680"/>
            <a:ext cx="1993392" cy="242316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8" y="2212848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269748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t>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3246120"/>
            <a:ext cx="16459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Create age groups and approximate purchase-frequency days.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2907792"/>
            <a:ext cx="2926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5ED3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98664" y="2011680"/>
            <a:ext cx="1993392" cy="242316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2212848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269748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3246120"/>
            <a:ext cx="16459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Load prepared data into PostgreSQL and answer business questions.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2907792"/>
            <a:ext cx="2926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5ED3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2011680"/>
            <a:ext cx="1993392" cy="242316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67544" y="2212848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67544" y="269748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t>Visualise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7544" y="3246120"/>
            <a:ext cx="16459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Build a Power BI dashboard with KPIs, charts and filters.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74920"/>
            <a:ext cx="10744200" cy="77724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285232"/>
            <a:ext cx="10241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B2C0D5"/>
                </a:solidFill>
                <a:latin typeface="Aptos"/>
              </a:defRPr>
            </a:pPr>
            <a:r>
              <a:t>Data-quality note: age-group labels were normalised for presentation; frequency mappings are approximations and should be validated.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55664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B2C0D5"/>
                </a:solidFill>
                <a:latin typeface="Aptos"/>
              </a:defRPr>
            </a:pPr>
            <a:r>
              <a:t>CUSTOMER SHOPPING BEHAVIOUR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04 • WHAT THE DATA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Headline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2C0D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32588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132588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$104,264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29718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Clothing: largest category purchase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45920"/>
            <a:ext cx="3291840" cy="132588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645920"/>
            <a:ext cx="64008" cy="1325880"/>
          </a:xfrm>
          <a:prstGeom prst="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801368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$157,890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359152"/>
            <a:ext cx="29718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Male records: total purchase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645920"/>
            <a:ext cx="3291840" cy="132588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645920"/>
            <a:ext cx="64008" cy="1325880"/>
          </a:xfrm>
          <a:prstGeom prst="rect">
            <a:avLst/>
          </a:prstGeom>
          <a:solidFill>
            <a:srgbClr val="FFB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801368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27.0%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359152"/>
            <a:ext cx="29718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Records marked subscribed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Recorded purchase value by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161574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Clothing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2946" y="3922776"/>
            <a:ext cx="2553919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42946" y="3922776"/>
            <a:ext cx="2553919" cy="17373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0017" y="3877056"/>
            <a:ext cx="93817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$104,264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161574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Accessories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42946" y="4837176"/>
            <a:ext cx="2553919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42946" y="4837176"/>
            <a:ext cx="1817509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0017" y="4791456"/>
            <a:ext cx="93817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$74,200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2900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Purchase value by age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86200"/>
            <a:ext cx="1474012" cy="3575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Young Adult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5630" y="392277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15630" y="3922776"/>
            <a:ext cx="2329891" cy="17373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8673" y="3877056"/>
            <a:ext cx="855878" cy="3575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$62,143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411980"/>
            <a:ext cx="1474012" cy="3575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Middle-aged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5630" y="444855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15630" y="4448556"/>
            <a:ext cx="2219438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8673" y="4402836"/>
            <a:ext cx="855878" cy="3575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$59,197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937760"/>
            <a:ext cx="1474012" cy="3575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Adult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5630" y="497433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15630" y="4974336"/>
            <a:ext cx="2098750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18673" y="4928616"/>
            <a:ext cx="855878" cy="3575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$55,978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463540"/>
            <a:ext cx="1474012" cy="3575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Senior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5630" y="550011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15630" y="5500116"/>
            <a:ext cx="2090689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18673" y="5454396"/>
            <a:ext cx="855878" cy="3575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$55,763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455664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B2C0D5"/>
                </a:solidFill>
                <a:latin typeface="Aptos"/>
              </a:defRPr>
            </a:pPr>
            <a:r>
              <a:t>CUSTOMER SHOPPING BEHAVIOUR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05 • SEGMENT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Customer Segments: Gender &amp; Subscription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2C0D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BEB4"/>
                </a:solidFill>
                <a:latin typeface="Aptos"/>
              </a:defRPr>
            </a:pPr>
            <a:r>
              <a:t>Gender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587398" cy="5596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Male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2771" y="2139696"/>
            <a:ext cx="2509113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12771" y="2139696"/>
            <a:ext cx="2509113" cy="17373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5036" y="2093976"/>
            <a:ext cx="921715" cy="5596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$157,890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79"/>
            <a:ext cx="1587398" cy="5596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Female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2771" y="2962656"/>
            <a:ext cx="2509113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12771" y="2962656"/>
            <a:ext cx="1194899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5036" y="2916936"/>
            <a:ext cx="921715" cy="5596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$75,191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Average purchase amount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2331720" cy="114300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572000"/>
            <a:ext cx="64008" cy="1143000"/>
          </a:xfrm>
          <a:prstGeom prst="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727448"/>
            <a:ext cx="20116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$60.25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285232"/>
            <a:ext cx="2011679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Female average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572000"/>
            <a:ext cx="2331720" cy="114300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4572000"/>
            <a:ext cx="64008" cy="11430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0168" y="4727448"/>
            <a:ext cx="20116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$59.54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5285232"/>
            <a:ext cx="2011679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Male average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4592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BEB4"/>
                </a:solidFill>
                <a:latin typeface="Aptos"/>
              </a:defRPr>
            </a:pPr>
            <a:r>
              <a:t>Subscription 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148840"/>
            <a:ext cx="2148840" cy="123444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2148840"/>
            <a:ext cx="64008" cy="1234440"/>
          </a:xfrm>
          <a:prstGeom prst="rect">
            <a:avLst/>
          </a:prstGeom>
          <a:solidFill>
            <a:srgbClr val="FFB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2304288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1,053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2862072"/>
            <a:ext cx="18288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Subscribed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2148840"/>
            <a:ext cx="2331720" cy="123444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23960" y="2148840"/>
            <a:ext cx="64008" cy="1234440"/>
          </a:xfrm>
          <a:prstGeom prst="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2304288"/>
            <a:ext cx="20116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2,847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2862072"/>
            <a:ext cx="2011679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Non-subscribed 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3749039"/>
            <a:ext cx="2148840" cy="123444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3749039"/>
            <a:ext cx="64008" cy="1234440"/>
          </a:xfrm>
          <a:prstGeom prst="rect">
            <a:avLst/>
          </a:prstGeom>
          <a:solidFill>
            <a:srgbClr val="60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3904487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$59.49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4462272"/>
            <a:ext cx="18288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Subscribed average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749039"/>
            <a:ext cx="2331720" cy="123444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23960" y="3749039"/>
            <a:ext cx="64008" cy="123444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25128" y="3904487"/>
            <a:ext cx="20116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$59.87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5128" y="4462272"/>
            <a:ext cx="2011679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Non-subscribed average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4924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Average spend is very similar across subscription groups; the larger non-subscribed total reflects more records.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455664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B2C0D5"/>
                </a:solidFill>
                <a:latin typeface="Aptos"/>
              </a:defRPr>
            </a:pPr>
            <a:r>
              <a:t>CUSTOMER SHOPPING BEHAVIOUR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06 • PRODUCT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Product, Ratings &amp; Discount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2C0D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Highest average review ratings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EFF8"/>
                </a:solidFill>
                <a:latin typeface="Aptos"/>
              </a:defRPr>
            </a:pPr>
            <a:r>
              <a:t>Gloves • Accessories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85416"/>
            <a:ext cx="1874519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2185416"/>
            <a:ext cx="1448254" cy="17373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2148840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D"/>
                </a:solidFill>
                <a:latin typeface="Aptos"/>
              </a:defRPr>
            </a:pPr>
            <a:r>
              <a:t>3.863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0632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EFF8"/>
                </a:solidFill>
                <a:latin typeface="Aptos"/>
              </a:defRPr>
            </a:pPr>
            <a:r>
              <a:t>Sandals • Footwear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807208"/>
            <a:ext cx="1874519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2807208"/>
            <a:ext cx="1441505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770632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D"/>
                </a:solidFill>
                <a:latin typeface="Aptos"/>
              </a:defRPr>
            </a:pPr>
            <a:r>
              <a:t>3.845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EFF8"/>
                </a:solidFill>
                <a:latin typeface="Aptos"/>
              </a:defRPr>
            </a:pPr>
            <a:r>
              <a:t>Boots • Footwear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429000"/>
            <a:ext cx="1874519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3429000"/>
            <a:ext cx="1431758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3392424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D"/>
                </a:solidFill>
                <a:latin typeface="Aptos"/>
              </a:defRPr>
            </a:pPr>
            <a:r>
              <a:t>3.819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14216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EFF8"/>
                </a:solidFill>
                <a:latin typeface="Aptos"/>
              </a:defRPr>
            </a:pPr>
            <a:r>
              <a:t>Hat • Accessories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050792"/>
            <a:ext cx="1874519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74720" y="4050792"/>
            <a:ext cx="1425010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4014216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D"/>
                </a:solidFill>
                <a:latin typeface="Aptos"/>
              </a:defRPr>
            </a:pPr>
            <a:r>
              <a:t>3.801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36008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EFF8"/>
                </a:solidFill>
                <a:latin typeface="Aptos"/>
              </a:defRPr>
            </a:pPr>
            <a:r>
              <a:t>Skirt • Clothing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672584"/>
            <a:ext cx="1874519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74720" y="4672584"/>
            <a:ext cx="1419011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4636008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D"/>
                </a:solidFill>
                <a:latin typeface="Aptos"/>
              </a:defRPr>
            </a:pPr>
            <a:r>
              <a:t>3.785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64592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Discount-use share: top five products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48840"/>
            <a:ext cx="1474012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Hat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5630" y="218541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15630" y="2185416"/>
            <a:ext cx="2329891" cy="173736"/>
          </a:xfrm>
          <a:prstGeom prst="roundRect">
            <a:avLst/>
          </a:prstGeom>
          <a:solidFill>
            <a:srgbClr val="FFB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8673" y="2139696"/>
            <a:ext cx="855878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50.00%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788920"/>
            <a:ext cx="1474012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Sneakers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5630" y="282549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15630" y="2825496"/>
            <a:ext cx="2314047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8673" y="2779776"/>
            <a:ext cx="855878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49.66%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429000"/>
            <a:ext cx="1474012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Coat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5630" y="346557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15630" y="3465576"/>
            <a:ext cx="2286555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18673" y="3419856"/>
            <a:ext cx="855878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49.07%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069079"/>
            <a:ext cx="1474012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Sweater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5630" y="4105655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15630" y="4105655"/>
            <a:ext cx="2244617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18673" y="4059935"/>
            <a:ext cx="855878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48.17%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709160"/>
            <a:ext cx="1474012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Pants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15630" y="474573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15630" y="4745736"/>
            <a:ext cx="2207338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18673" y="4700016"/>
            <a:ext cx="855878" cy="4352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47.37%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5577840"/>
            <a:ext cx="10469880" cy="438912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5669280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Hat has the highest discount-use share among the products listed in the report.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6455664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B2C0D5"/>
                </a:solidFill>
                <a:latin typeface="Aptos"/>
              </a:defRPr>
            </a:pPr>
            <a:r>
              <a:t>CUSTOMER SHOPPING BEHAVIOUR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07 • BEHAVIOUR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Shipping &amp; Customer Loyalty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2C0D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BEB4"/>
                </a:solidFill>
                <a:latin typeface="Aptos"/>
              </a:defRPr>
            </a:pPr>
            <a:r>
              <a:t>Shipping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2331720" cy="128016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64008" cy="1280160"/>
          </a:xfrm>
          <a:prstGeom prst="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20116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$60.48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62072"/>
            <a:ext cx="2011679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Express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48840"/>
            <a:ext cx="2331720" cy="128016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148840"/>
            <a:ext cx="64008" cy="128016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304288"/>
            <a:ext cx="20116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8FAFD"/>
                </a:solidFill>
                <a:latin typeface="Aptos"/>
              </a:defRPr>
            </a:pPr>
            <a:r>
              <a:t>$58.46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862072"/>
            <a:ext cx="2011679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Standard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49377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E6EFF8"/>
                </a:solidFill>
                <a:latin typeface="Aptos"/>
              </a:defRPr>
            </a:pPr>
            <a:r>
              <a:t>Express: $39,067 total across 646 records</a:t>
            </a:r>
          </a:p>
          <a:p>
            <a:pPr>
              <a:spcAft>
                <a:spcPts val="400"/>
              </a:spcAft>
              <a:defRPr sz="1400" b="0">
                <a:solidFill>
                  <a:srgbClr val="E6EFF8"/>
                </a:solidFill>
                <a:latin typeface="Aptos"/>
              </a:defRPr>
            </a:pPr>
            <a:r>
              <a:t>Standard: $38,233 total across 654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BEB4"/>
                </a:solidFill>
                <a:latin typeface="Aptos"/>
              </a:defRPr>
            </a:pPr>
            <a:r>
              <a:t>Customer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1474012" cy="4974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Loyal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5630" y="218541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5630" y="2185416"/>
            <a:ext cx="2329891" cy="173736"/>
          </a:xfrm>
          <a:prstGeom prst="roundRect">
            <a:avLst/>
          </a:prstGeom>
          <a:solidFill>
            <a:srgbClr val="60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18673" y="2139696"/>
            <a:ext cx="855878" cy="4974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3,116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80360"/>
            <a:ext cx="1474012" cy="4974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Returning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5630" y="291693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5630" y="2916936"/>
            <a:ext cx="524150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8673" y="2871216"/>
            <a:ext cx="855878" cy="4974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701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11880"/>
            <a:ext cx="1474012" cy="4974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EFF8"/>
                </a:solidFill>
                <a:latin typeface="Aptos"/>
              </a:defRPr>
            </a:pPr>
            <a:r>
              <a:t>New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5630" y="3648456"/>
            <a:ext cx="2329891" cy="173736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15630" y="3648456"/>
            <a:ext cx="62060" cy="173736"/>
          </a:xfrm>
          <a:prstGeom prst="roundRect">
            <a:avLst/>
          </a:prstGeom>
          <a:solidFill>
            <a:srgbClr val="5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18673" y="3602736"/>
            <a:ext cx="855878" cy="4974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754880"/>
            <a:ext cx="4663440" cy="77724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919472"/>
            <a:ext cx="4297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Rule: New = 1 previous purchase • Returning = 2–10 • Loyal = more than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5029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2C0D5"/>
                </a:solidFill>
                <a:latin typeface="Aptos"/>
              </a:defRPr>
            </a:pPr>
            <a:r>
              <a:t>Shipping averages are descriptive comparisons and do not prove that shipping type causes higher spend.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55664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B2C0D5"/>
                </a:solidFill>
                <a:latin typeface="Aptos"/>
              </a:defRPr>
            </a:pPr>
            <a:r>
              <a:t>CUSTOMER SHOPPING BEHAVIOUR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08 • ACTIONS TO CONSIDER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2C0D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212080" cy="1115568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Category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70916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Review Clothing stock and popular items; validate margins before investing.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212080" cy="1115568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92224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Customer campaigns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21408"/>
            <a:ext cx="470916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Segment using several variables; test campaign performance before scaling.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63240"/>
            <a:ext cx="5212080" cy="1115568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09544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Subscription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38728"/>
            <a:ext cx="470916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Assess retention, purchase frequency and lifetime value—not average spend alone.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63240"/>
            <a:ext cx="5212080" cy="1115568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209544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Discount effectiveness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38728"/>
            <a:ext cx="470916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Measure whether discounts lift conversion or simply reduce margin.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80560"/>
            <a:ext cx="5212080" cy="1115568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26864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Age-group targeting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56048"/>
            <a:ext cx="470916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Explore preferences and repeat purchases before targeting Young Adults.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480560"/>
            <a:ext cx="5212080" cy="1115568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626864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BEB4"/>
                </a:solidFill>
                <a:latin typeface="Aptos"/>
              </a:defRPr>
            </a:pPr>
            <a:r>
              <a:t>Shipping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56048"/>
            <a:ext cx="470916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6EFF8"/>
                </a:solidFill>
                <a:latin typeface="Aptos"/>
              </a:defRPr>
            </a:pPr>
            <a:r>
              <a:t>Compare delivery costs, satisfaction and customer mix before changing options.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55664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B2C0D5"/>
                </a:solidFill>
                <a:latin typeface="Aptos"/>
              </a:defRPr>
            </a:pPr>
            <a:r>
              <a:t>CUSTOMER SHOPPING BEHAVIOUR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09 •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Conclusion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2C0D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BEB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2120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The project demonstrates an end-to-end analytics workflow: prepare customer data with Pandas, answer practical questions in PostgreSQL, and communicate patterns through Power BI.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215384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114800"/>
            <a:ext cx="51023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E6EFF8"/>
                </a:solidFill>
                <a:latin typeface="Aptos"/>
              </a:defRPr>
            </a:pPr>
            <a:r>
              <a:t>Clothing contributes the largest recorded purchase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727448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626864"/>
            <a:ext cx="51023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E6EFF8"/>
                </a:solidFill>
                <a:latin typeface="Aptos"/>
              </a:defRPr>
            </a:pPr>
            <a:r>
              <a:t>Young Adult records lead purchase value among the age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239512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138928"/>
            <a:ext cx="51023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E6EFF8"/>
                </a:solidFill>
                <a:latin typeface="Aptos"/>
              </a:defRPr>
            </a:pPr>
            <a:r>
              <a:t>Subscription groups have similar average purchase amounts.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052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157984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057400"/>
            <a:ext cx="4553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E6EFF8"/>
                </a:solidFill>
                <a:latin typeface="Aptos"/>
              </a:defRPr>
            </a:pPr>
            <a:r>
              <a:t>3,900 records may not represent an entire market or company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670048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569464"/>
            <a:ext cx="4553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E6EFF8"/>
                </a:solidFill>
                <a:latin typeface="Aptos"/>
              </a:defRPr>
            </a:pPr>
            <a:r>
              <a:t>Analysis is descriptive; observed relationships do not prove causation.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182112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081528"/>
            <a:ext cx="4553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E6EFF8"/>
                </a:solidFill>
                <a:latin typeface="Aptos"/>
              </a:defRPr>
            </a:pPr>
            <a:r>
              <a:t>Each row is treated as one purchase record; dashboard figures may differ slightly due to rounding.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694176"/>
            <a:ext cx="82296" cy="82296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593592"/>
            <a:ext cx="45537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E6EFF8"/>
                </a:solidFill>
                <a:latin typeface="Aptos"/>
              </a:defRPr>
            </a:pPr>
            <a:r>
              <a:t>Validate frequency mappings and the repeat-buyer query definition before business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5715000"/>
            <a:ext cx="4663440" cy="411480"/>
          </a:xfrm>
          <a:prstGeom prst="roundRect">
            <a:avLst/>
          </a:prstGeom>
          <a:solidFill>
            <a:srgbClr val="18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5797296"/>
            <a:ext cx="4297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BEB4"/>
                </a:solidFill>
                <a:latin typeface="Aptos"/>
              </a:defRPr>
            </a:pPr>
            <a:r>
              <a:t>Thank you • Questions?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55664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B2C0D5"/>
                </a:solidFill>
                <a:latin typeface="Aptos"/>
              </a:defRPr>
            </a:pPr>
            <a:r>
              <a:t>CUSTOMER SHOPPING BEHAVIOUR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